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MediCitas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DD6"/>
                </a:solidFill>
                <a:latin typeface="Calibri"/>
              </a:defRPr>
            </a:pPr>
            <a:r>
              <a:t>Plataforma Inteligente de Recomendación</a:t>
            </a:r>
            <a:br/>
            <a:r>
              <a:t>y Gestión de Citas Médicas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3931920"/>
            <a:ext cx="1371600" cy="5080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9E"/>
                </a:solidFill>
                <a:latin typeface="Calibri"/>
              </a:defRPr>
            </a:pPr>
            <a:r>
              <a:t>Curso de JavaScript — Facultad de Ingeniería de Sistemas</a:t>
            </a:r>
            <a:br/>
            <a:r>
              <a:t>Universidad Nacional San Luis Gonzaga · Ica, Perú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¿Cuál es el problema?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En muchas ciudades del Perú, y especialmente en Ica, conseguir una cita médica sigue siendo un proceso lento y tedioso. Los pacientes tienen que llamar por teléfono a varias clínicas, preguntar qué especialistas están disponibles, averiguar los horarios y, muchas veces, acercarse en persona solo para apartar un turno.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9260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Esto genera varios problemas concretos: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47472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A4A46"/>
                </a:solidFill>
                <a:latin typeface="Calibri"/>
              </a:defRPr>
            </a:pPr>
            <a:r>
              <a:t>•  Pérdida de tiempo tanto para el paciente como para el personal administrativo de la clínica.</a:t>
            </a:r>
          </a:p>
          <a:p>
            <a:pPr>
              <a:spcAft>
                <a:spcPts val="800"/>
              </a:spcAft>
              <a:defRPr sz="1600">
                <a:solidFill>
                  <a:srgbClr val="3A4A46"/>
                </a:solidFill>
                <a:latin typeface="Calibri"/>
              </a:defRPr>
            </a:pPr>
            <a:r>
              <a:t>•  Falta de información centralizada: no existe un solo lugar donde comparar especialistas, ubicaciones y horarios.</a:t>
            </a:r>
          </a:p>
          <a:p>
            <a:pPr>
              <a:spcAft>
                <a:spcPts val="800"/>
              </a:spcAft>
              <a:defRPr sz="1600">
                <a:solidFill>
                  <a:srgbClr val="3A4A46"/>
                </a:solidFill>
                <a:latin typeface="Calibri"/>
              </a:defRPr>
            </a:pPr>
            <a:r>
              <a:t>•  Doble reserva y desorganización cuando los registros se llevan de forma manual.</a:t>
            </a:r>
          </a:p>
          <a:p>
            <a:pPr>
              <a:spcAft>
                <a:spcPts val="800"/>
              </a:spcAft>
              <a:defRPr sz="1600">
                <a:solidFill>
                  <a:srgbClr val="3A4A46"/>
                </a:solidFill>
                <a:latin typeface="Calibri"/>
              </a:defRPr>
            </a:pPr>
            <a:r>
              <a:t>•  Dificultad para encontrar la clínica más cercana, sobre todo para personas que no conocen bien la ciudad.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¿Qué es MediCitas?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686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MediCitas es una plataforma web que le permite a cualquier persona buscar médicos por especialidad, ver sus horarios en tiempo real y reservar una cita desde la comodidad de su celular o computadora, sin necesidad de hacer llamadas ni desplazarse.</a:t>
            </a:r>
          </a:p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Pero no se queda solo en la reserva. La plataforma también integra un mapa interactivo que detecta la ubicación del usuario y le muestra qué clínicas tiene más cerca, ordenadas por distancia. De esta forma, el paciente puede tomar una decisión informada: no solo elige al especialista que necesita, sino que también considera cuál le queda más conveniente geográficamente.</a:t>
            </a:r>
          </a:p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Además, el sistema contempla tres roles distintos — paciente, médico y administrador — lo que permite que cada actor del proceso de salud tenga su propio panel con las herramientas que necesita.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Objetivos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C66"/>
                </a:solidFill>
                <a:latin typeface="Calibri"/>
              </a:defRPr>
            </a:pPr>
            <a:r>
              <a:t>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Desarrollar una plataforma web funcional que simplifique y agilice el proceso de búsqueda, recomendación y reserva de citas médicas en centros de salud de la ciudad de Ica, integrando geolocalización y gestión de horarios en tiempo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C66"/>
                </a:solidFill>
                <a:latin typeface="Calibri"/>
              </a:defRPr>
            </a:pPr>
            <a:r>
              <a:t>Objetivos específicos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74720"/>
            <a:ext cx="8686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A4A46"/>
                </a:solidFill>
                <a:latin typeface="Calibri"/>
              </a:defRPr>
            </a:pPr>
            <a:r>
              <a:t>•  Implementar un sistema de registro e inicio de sesión seguro con autenticación JWT y cifrado de contraseñas.</a:t>
            </a:r>
          </a:p>
          <a:p>
            <a:pPr>
              <a:spcAft>
                <a:spcPts val="800"/>
              </a:spcAft>
              <a:defRPr sz="1600">
                <a:solidFill>
                  <a:srgbClr val="3A4A46"/>
                </a:solidFill>
                <a:latin typeface="Calibri"/>
              </a:defRPr>
            </a:pPr>
            <a:r>
              <a:t>•  Construir un buscador que permita filtrar médicos por especialidad y nombre, mostrando solo profesionales disponibles.</a:t>
            </a:r>
          </a:p>
          <a:p>
            <a:pPr>
              <a:spcAft>
                <a:spcPts val="800"/>
              </a:spcAft>
              <a:defRPr sz="1600">
                <a:solidFill>
                  <a:srgbClr val="3A4A46"/>
                </a:solidFill>
                <a:latin typeface="Calibri"/>
              </a:defRPr>
            </a:pPr>
            <a:r>
              <a:t>•  Integrar un mapa interactivo con la ubicación GPS del usuario para recomendar las clínicas más cercanas.</a:t>
            </a:r>
          </a:p>
          <a:p>
            <a:pPr>
              <a:spcAft>
                <a:spcPts val="800"/>
              </a:spcAft>
              <a:defRPr sz="1600">
                <a:solidFill>
                  <a:srgbClr val="3A4A46"/>
                </a:solidFill>
                <a:latin typeface="Calibri"/>
              </a:defRPr>
            </a:pPr>
            <a:r>
              <a:t>•  Desarrollar un módulo de reservas que valide horarios y prevenga la doble asignación de turnos.</a:t>
            </a:r>
          </a:p>
          <a:p>
            <a:pPr>
              <a:spcAft>
                <a:spcPts val="800"/>
              </a:spcAft>
              <a:defRPr sz="1600">
                <a:solidFill>
                  <a:srgbClr val="3A4A46"/>
                </a:solidFill>
                <a:latin typeface="Calibri"/>
              </a:defRPr>
            </a:pPr>
            <a:r>
              <a:t>•  Ofrecer paneles diferenciados para pacientes, médicos y administradores del sistema.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¿Para quién está diseñado?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👤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Paciente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Cualquier persona que necesite atención médica. Puede registrarse, buscar especialistas, ver las clínicas en el mapa, reservar citas y llevar un historial de todas sus consultas desde un solo lugar.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🩺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Médico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El profesional de salud accede a su propia agenda, ve la lista de pacientes que tienen cita con él, puede confirmar la asistencia y marcar una consulta como atendida una vez que termina.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⚙️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Administrador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Tiene control total sobre el sistema: gestiona usuarios y sus roles, registra nuevos médicos, administra el catálogo de especialidades y supervisa todas las citas de la plataforma.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Funcionalidades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🔐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Registro y autenticación segura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Cuentas protegidas con tokens JWT y contraseñas cifradas automáticamente.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🔍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Búsqueda inteligente de especialistas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Filtra por especialidad médica o nombre del doctor. Solo muestra médicos disponibles.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📅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Reserva de citas en tiempo real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Cruza horarios con citas ocupadas y muestra solo horas libres, en bloques de 30 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🗺️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Mapa y geolocalización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Mapa interactivo con OpenStreetMap. Detecta tu GPS y ordena clínicas por cercanía.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📋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Historial y gestión de citas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Todas las citas con estados claros: pendiente, confirmada, atendida, cancelada.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🛡️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Panel de administración completo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Gestión centralizada de usuarios, médicos, especialidades y supervisión de citas.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¿Cómo funciona para el paciente?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El flujo que sigue un paciente dentro de la plataforma es directo y sin complicaciones: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5544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spcAft>
                <a:spcPts val="400"/>
              </a:spcAft>
              <a:defRPr sz="3200" b="1">
                <a:solidFill>
                  <a:srgbClr val="0E7C66"/>
                </a:solidFill>
                <a:latin typeface="Calibri"/>
              </a:defRPr>
            </a:pPr>
            <a:r>
              <a:t>1</a:t>
            </a:r>
          </a:p>
          <a:p>
            <a:pPr algn="ctr">
              <a:defRPr sz="1200" b="1">
                <a:solidFill>
                  <a:srgbClr val="0B2E26"/>
                </a:solidFill>
                <a:latin typeface="Calibri"/>
              </a:defRPr>
            </a:pPr>
            <a:r>
              <a:t>Se registra</a:t>
            </a:r>
            <a:br/>
            <a:r>
              <a:t>con su correo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ACCC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377440"/>
            <a:ext cx="15544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spcAft>
                <a:spcPts val="400"/>
              </a:spcAft>
              <a:defRPr sz="3200" b="1">
                <a:solidFill>
                  <a:srgbClr val="0E7C66"/>
                </a:solidFill>
                <a:latin typeface="Calibri"/>
              </a:defRPr>
            </a:pPr>
            <a:r>
              <a:t>2</a:t>
            </a:r>
          </a:p>
          <a:p>
            <a:pPr algn="ctr">
              <a:defRPr sz="1200" b="1">
                <a:solidFill>
                  <a:srgbClr val="0B2E26"/>
                </a:solidFill>
                <a:latin typeface="Calibri"/>
              </a:defRPr>
            </a:pPr>
            <a:r>
              <a:t>Busca un</a:t>
            </a:r>
            <a:br/>
            <a:r>
              <a:t>especialista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ACCC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77440"/>
            <a:ext cx="15544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spcAft>
                <a:spcPts val="400"/>
              </a:spcAft>
              <a:defRPr sz="3200" b="1">
                <a:solidFill>
                  <a:srgbClr val="0E7C66"/>
                </a:solidFill>
                <a:latin typeface="Calibri"/>
              </a:defRPr>
            </a:pPr>
            <a:r>
              <a:t>3</a:t>
            </a:r>
          </a:p>
          <a:p>
            <a:pPr algn="ctr">
              <a:defRPr sz="1200" b="1">
                <a:solidFill>
                  <a:srgbClr val="0B2E26"/>
                </a:solidFill>
                <a:latin typeface="Calibri"/>
              </a:defRPr>
            </a:pPr>
            <a:r>
              <a:t>Ve los horarios</a:t>
            </a:r>
            <a:br/>
            <a:r>
              <a:t>disponibles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ACCC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77440"/>
            <a:ext cx="15544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spcAft>
                <a:spcPts val="400"/>
              </a:spcAft>
              <a:defRPr sz="3200" b="1">
                <a:solidFill>
                  <a:srgbClr val="0E7C66"/>
                </a:solidFill>
                <a:latin typeface="Calibri"/>
              </a:defRPr>
            </a:pPr>
            <a:r>
              <a:t>4</a:t>
            </a:r>
          </a:p>
          <a:p>
            <a:pPr algn="ctr">
              <a:defRPr sz="1200" b="1">
                <a:solidFill>
                  <a:srgbClr val="0B2E26"/>
                </a:solidFill>
                <a:latin typeface="Calibri"/>
              </a:defRPr>
            </a:pPr>
            <a:r>
              <a:t>Elige fecha</a:t>
            </a:r>
            <a:br/>
            <a:r>
              <a:t>y 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ACCC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77440"/>
            <a:ext cx="15544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spcAft>
                <a:spcPts val="400"/>
              </a:spcAft>
              <a:defRPr sz="3200" b="1">
                <a:solidFill>
                  <a:srgbClr val="0E7C66"/>
                </a:solidFill>
                <a:latin typeface="Calibri"/>
              </a:defRPr>
            </a:pPr>
            <a:r>
              <a:t>5</a:t>
            </a:r>
          </a:p>
          <a:p>
            <a:pPr algn="ctr">
              <a:defRPr sz="1200" b="1">
                <a:solidFill>
                  <a:srgbClr val="0B2E26"/>
                </a:solidFill>
                <a:latin typeface="Calibri"/>
              </a:defRPr>
            </a:pPr>
            <a:r>
              <a:t>Confirma</a:t>
            </a:r>
            <a:br/>
            <a:r>
              <a:t>su 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2368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ACCC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2377440"/>
            <a:ext cx="15544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spcAft>
                <a:spcPts val="400"/>
              </a:spcAft>
              <a:defRPr sz="3200" b="1">
                <a:solidFill>
                  <a:srgbClr val="0E7C66"/>
                </a:solidFill>
                <a:latin typeface="Calibri"/>
              </a:defRPr>
            </a:pPr>
            <a:r>
              <a:t>6</a:t>
            </a:r>
          </a:p>
          <a:p>
            <a:pPr algn="ctr">
              <a:defRPr sz="1200" b="1">
                <a:solidFill>
                  <a:srgbClr val="0B2E26"/>
                </a:solidFill>
                <a:latin typeface="Calibri"/>
              </a:defRPr>
            </a:pPr>
            <a:r>
              <a:t>Acude a la</a:t>
            </a:r>
            <a:br/>
            <a:r>
              <a:t>consulta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720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En cualquier momento puede revisar su historial, cancelar una cita que ya no necesite o buscar clínicas cercanas en el mapa para decidir a cuál le conviene 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Tecnologías utilizadas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⚛️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React 18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Interfaz con componentes reutilizables y estado reactivo.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5448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⚡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Vite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Compilación ultrarrápida y recarga instantánea durante el desarrollo.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🔗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React Router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Navegación sin recarga. Rutas protegidas por 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5448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🗄️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Supabase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Backend: PostgreSQL + Auth JWT + API REST + seguridad RLS.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🗺️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Leaflet + OSM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Mapa interactivo de código abierto con marcadores.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02336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📍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Geolocation API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API nativa del navegador para coordenadas GPS.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🌐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Nominatim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Geocodificación: convertir direcciones a coordenadas.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02336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🎨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CSS propio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Diseño responsivo hecho a mano con variables CSS.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Arquitectura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El proyecto sigue una arquitectura de tres capas bien separadas: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8686800" cy="8686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43A047"/>
                </a:solidFill>
                <a:latin typeface="Calibri"/>
              </a:defRPr>
            </a:pPr>
            <a:r>
              <a:t>📱 Interfaz (UI)</a:t>
            </a:r>
          </a:p>
          <a:p>
            <a:pPr>
              <a:defRPr sz="1300">
                <a:solidFill>
                  <a:srgbClr val="3A4A46"/>
                </a:solidFill>
                <a:latin typeface="Calibri"/>
              </a:defRPr>
            </a:pPr>
            <a:r>
              <a:t>13 componentes React organizados por funcionalidad: formularios, buscadores, paneles, mapa.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A7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154680"/>
            <a:ext cx="8686800" cy="8686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1976D2"/>
                </a:solidFill>
                <a:latin typeface="Calibri"/>
              </a:defRPr>
            </a:pPr>
            <a:r>
              <a:t>🔧 Servicios</a:t>
            </a:r>
          </a:p>
          <a:p>
            <a:pPr>
              <a:defRPr sz="1300">
                <a:solidFill>
                  <a:srgbClr val="3A4A46"/>
                </a:solidFill>
                <a:latin typeface="Calibri"/>
              </a:defRPr>
            </a:pPr>
            <a:r>
              <a:t>7 módulos JavaScript que encapsulan el acceso a datos: auth, médicos, citas, clínicas, especialidades.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023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A7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297680"/>
            <a:ext cx="8686800" cy="868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EF6C00"/>
                </a:solidFill>
                <a:latin typeface="Calibri"/>
              </a:defRPr>
            </a:pPr>
            <a:r>
              <a:t>☁️ Backend (API)</a:t>
            </a:r>
          </a:p>
          <a:p>
            <a:pPr>
              <a:defRPr sz="1300">
                <a:solidFill>
                  <a:srgbClr val="3A4A46"/>
                </a:solidFill>
                <a:latin typeface="Calibri"/>
              </a:defRPr>
            </a:pPr>
            <a:r>
              <a:t>Supabase genera una API REST automática. La autenticación valida tokens JWT en cada solicitud.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5166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A7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5440680"/>
            <a:ext cx="8686800" cy="86868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ctr">
              <a:spcAft>
                <a:spcPts val="200"/>
              </a:spcAft>
              <a:defRPr sz="1600" b="1">
                <a:solidFill>
                  <a:srgbClr val="C62828"/>
                </a:solidFill>
                <a:latin typeface="Calibri"/>
              </a:defRPr>
            </a:pPr>
            <a:r>
              <a:t>💾 Base de Datos</a:t>
            </a:r>
          </a:p>
          <a:p>
            <a:pPr>
              <a:defRPr sz="1300">
                <a:solidFill>
                  <a:srgbClr val="3A4A46"/>
                </a:solidFill>
                <a:latin typeface="Calibri"/>
              </a:defRPr>
            </a:pPr>
            <a:r>
              <a:t>PostgreSQL con 6 tablas, 1 vista, triggers automáticos y políticas de seguridad por fila (RLS).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Modelo de base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55448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Tabla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Campos principales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usuarios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Perfiles vinculados a la autenticación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id, nombres, correo, teléfono, 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Catálogo de áreas médicas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id, nombre (único)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clinicas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Centros de salud con ubicación GPS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id, nombre, dirección, latitud, longitud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medicos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Profesionales con clínica y especialidad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id, nombre, especialidad, clínica, disponible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horarios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Disponibilidad semanal de cada médico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médico, día de semana, hora inicio, hora fin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citas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Reservas con protección contra duplicados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paciente, médico, fecha, hora, estado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029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3A4A46"/>
                </a:solidFill>
                <a:latin typeface="Calibri"/>
              </a:defRPr>
            </a:pPr>
            <a:r>
              <a:t>El sistema incluye además una vista desnormalizada (historial_citas) que combina todas las tablas para consultas rápidas, y un trigger automático que crea el perfil del usuario en el momento del registro.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APIs y servicios externos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El proyecto reutiliza cinco APIs para resolver diferentes necesidades sin reinventar la rueda: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01168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 / Servicio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Qué resuelve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Cómo se usa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Supabase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Registro y login seguro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Genera tokens JWT, cifra contraseñas y valida cada sesión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Supabase REST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Acceso a la base de datos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API auto-generada sobre PostgreSQL para operaciones CRUD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Geolocation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Posición del usuario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Obtiene coordenadas GPS del dispositivo para calcular cercanía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OpenStreetMap + Leaflet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Mapa interactivo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Renderiza mapa con marcadores para clínicas y ubicación del paciente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Nominatim (OSM)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Geocodificación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Convierte direcciones de texto a coordenadas (latitud, longitud)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Seguridad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La seguridad no se trató como algo secundario, sino como un pilar del diseño desde el inicio: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🔑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Contraseñas cifradas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Supabase Auth aplica hash criptográfico a todas las contraseñas antes de almacenarlas. En ningún momento se guardan en texto plano.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🎫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Tokens JWT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Cada sesión activa se valida con un token JSON Web Token. Si expira o es inválido, se cierra el acceso automáticamente.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🚧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Row Level Security (RLS)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Cada tabla tiene políticas que verifican, a nivel de base de datos, que el usuario solo puede ver y modificar lo que su rol le permite.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976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🛤️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Rutas protegidas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En el frontend, un componente wrapper verifica la autenticación y el rol antes de permitir el acceso a cualquier página restringida.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Datos precargados para demostración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La base de datos incluye información de prueba realista, basada en clínicas y ubicaciones reales de Ica: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🏥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4 clínicas con ubicación real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Clínica Santa Rosa, Centro Médico El Carmen, Policlínico La Angostura y Clínica San José — con coordenadas GPS exactas.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👨‍⚕️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8 médicos especialistas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Distribuidos entre las 4 clínicas y asignados a diferentes especialidades: Cardiología, Pediatría, Dermatología,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📂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8 especialidades médicas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Medicina General, Pediatría, Cardiología, Dermatología, Ginecología, Traumatología, Oftalmología y Odontología.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976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ctr">
              <a:spcAft>
                <a:spcPts val="600"/>
              </a:spcAft>
              <a:defRPr sz="3200"/>
            </a:pPr>
            <a:r>
              <a:t>🕐</a:t>
            </a:r>
          </a:p>
          <a:p>
            <a:pPr>
              <a:spcAft>
                <a:spcPts val="600"/>
              </a:spcAft>
              <a:defRPr sz="1500" b="1">
                <a:solidFill>
                  <a:srgbClr val="0B2E26"/>
                </a:solidFill>
                <a:latin typeface="Calibri"/>
              </a:defRPr>
            </a:pPr>
            <a:r>
              <a:t>52 bloques de horarios</a:t>
            </a:r>
          </a:p>
          <a:p>
            <a:pPr>
              <a:defRPr sz="1200">
                <a:solidFill>
                  <a:srgbClr val="6B7A76"/>
                </a:solidFill>
                <a:latin typeface="Calibri"/>
              </a:defRPr>
            </a:pPr>
            <a:r>
              <a:t>Turnos de mañana (8:00-13:00) lunes a viernes para todos, y turnos tarde (15:00-19:00) lun-mié-vie para algunos.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Requerimientos cubiertos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55448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12648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RF01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Registro de nuevos usuarios con validación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✓ Cumplido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RF02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Inicio de sesión seguro con credenciales cifradas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✓ Cumplido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RF03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Búsqueda de médicos por especialidad y 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✓ Cumplido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RF04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Consulta de horarios disponibles por fecha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✓ Cumplido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RF05/RF06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Reservar, cancelar y actualizar estado de citas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✓ Cumplido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RF07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Mapa de clínicas con geolocalización y distancia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✓ Cumplido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RF08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Panel de administración con gestión integral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✓ Cumplido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RNF01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Contraseñas con hash + políticas de seguridad RLS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✓ Cumplido</a:t>
                      </a:r>
                    </a:p>
                  </a:txBody>
                  <a:tcPr>
                    <a:solidFill>
                      <a:srgbClr val="E3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E26"/>
                          </a:solidFill>
                          <a:latin typeface="Calibri"/>
                        </a:defRPr>
                      </a:pPr>
                      <a:r>
                        <a:t>RNF03/05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4A46"/>
                          </a:solidFill>
                          <a:latin typeface="Calibri"/>
                        </a:defRPr>
                      </a:pPr>
                      <a:r>
                        <a:t>Interfaz responsiva, intuitiva y adaptable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5724"/>
                          </a:solidFill>
                          <a:latin typeface="Calibri"/>
                        </a:defRPr>
                      </a:pPr>
                      <a:r>
                        <a:t>✓ Cumplido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0E8E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2E26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1143000"/>
            <a:ext cx="914400" cy="508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686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MediCitas demuestra que con las herramientas adecuadas es posible construir una solución real a un problema cotidiano. No se trata de un ejercicio teórico: es una plataforma funcional que resuelve la desorganización en la gestión de citas médicas y le devuelve al paciente el control sobre su propia salud.</a:t>
            </a:r>
          </a:p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A lo largo del desarrollo aprendimos a integrar múltiples APIs y servicios externos de forma coherente, a diseñar una base de datos relacional con seguridad incorporada desde el esquema, y a estructurar un proyecto frontend de manera que cada pieza — componente, servicio, contexto — tenga una responsabilidad clara.</a:t>
            </a:r>
          </a:p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700" b="0">
                <a:solidFill>
                  <a:srgbClr val="3A4A46"/>
                </a:solidFill>
                <a:latin typeface="Calibri"/>
              </a:defRPr>
            </a:pPr>
            <a:r>
              <a:t>El resultado es un sistema que no solo cumple con los requerimientos del curso, sino que podría adaptarse y desplegarse en un entorno real con ajustes mínimos. Esa fue siempre la intención: que lo que construimos sirva para algo más que una nota.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DD6"/>
                </a:solidFill>
                <a:latin typeface="Calibri"/>
              </a:defRPr>
            </a:pPr>
            <a:r>
              <a:t>¿Preguntas o comentarios?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4114800"/>
            <a:ext cx="1371600" cy="5080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9E"/>
                </a:solidFill>
                <a:latin typeface="Calibri"/>
              </a:defRPr>
            </a:pPr>
            <a:r>
              <a:t>MediCitas — Plataforma Inteligente de Citas Médicas</a:t>
            </a:r>
            <a:br/>
            <a:r>
              <a:t>Facultad de Ingeniería de Sistemas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